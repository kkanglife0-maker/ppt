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43500" y="1143000"/>
            <a:ext cx="1904999" cy="3809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43500" y="1190625"/>
            <a:ext cx="1904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  <a:latin typeface="Noto Sans KR"/>
              </a:defRPr>
            </a:pPr>
            <a:r>
              <a:t>AI Search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99" y="2286000"/>
            <a:ext cx="10287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  <a:latin typeface="Noto Sans KR"/>
              </a:defRPr>
            </a:pPr>
            <a:r>
              <a:t>직진비뇨기과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99" y="3619499"/>
            <a:ext cx="10287000" cy="76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FFFFFF"/>
                </a:solidFill>
                <a:latin typeface="Noto Sans KR"/>
              </a:defRPr>
            </a:pPr>
            <a:r>
              <a:t>AEO 통합 전략 제안서 v2.0</a:t>
            </a:r>
          </a:p>
        </p:txBody>
      </p:sp>
      <p:sp>
        <p:nvSpPr>
          <p:cNvPr id="9" name="Rectangle 8"/>
          <p:cNvSpPr/>
          <p:nvPr/>
        </p:nvSpPr>
        <p:spPr>
          <a:xfrm>
            <a:off x="952499" y="5715000"/>
            <a:ext cx="10287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2499" y="5905500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Noto Sans KR"/>
              </a:defRPr>
            </a:pPr>
            <a:r>
              <a:t>발행처: 아벨 전략기획팀  |  발행일: 2026. 03.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476249"/>
            <a:ext cx="3809999" cy="3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56B3"/>
                </a:solidFill>
                <a:latin typeface="Noto Sans KR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499" y="857250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11111"/>
                </a:solidFill>
                <a:latin typeface="Noto Sans KR"/>
              </a:defRPr>
            </a:pPr>
            <a:r>
              <a:t>핵심 요약: 인공지능이 병원을 기억하게 하라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499" y="1428750"/>
            <a:ext cx="10287000" cy="3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66666"/>
                </a:solidFill>
                <a:latin typeface="Noto Sans KR"/>
              </a:defRPr>
            </a:pPr>
            <a:r>
              <a:t>검색 패러다임의 변화에 따른 직진비뇨기과의 새로운 기회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499" y="2095499"/>
            <a:ext cx="3238500" cy="238125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8249" y="2381250"/>
            <a:ext cx="2667000" cy="47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6B3"/>
                </a:solidFill>
                <a:latin typeface="Noto Sans KR"/>
              </a:defRPr>
            </a:pPr>
            <a:r>
              <a:t>핵심 과제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249" y="2952750"/>
            <a:ext cx="2667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Noto Sans KR"/>
              </a:defRPr>
            </a:pPr>
            <a:r>
              <a:t>구글 제미나이, 챗GPT 등 AI 검색 엔진에서 직진비뇨기과이 신뢰할 수 있는 답변 후보군으로 우선 채택되도록 하는 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6750" y="2095499"/>
            <a:ext cx="3238500" cy="238125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2500" y="2381250"/>
            <a:ext cx="2667000" cy="47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1A35"/>
                </a:solidFill>
                <a:latin typeface="Noto Sans KR"/>
              </a:defRPr>
            </a:pPr>
            <a:r>
              <a:t>기대 효과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095499"/>
            <a:ext cx="3238500" cy="238125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476249"/>
            <a:ext cx="3809999" cy="3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56B3"/>
                </a:solidFill>
                <a:latin typeface="Noto Sans KR"/>
              </a:defRPr>
            </a:pPr>
            <a:r>
              <a:t>AEO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499" y="857250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11111"/>
                </a:solidFill>
                <a:latin typeface="Noto Sans KR"/>
              </a:defRPr>
            </a:pPr>
            <a:r>
              <a:t>AI 검색 최적화(AEO)란 무엇인가?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499" y="1428750"/>
            <a:ext cx="10287000" cy="3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666666"/>
                </a:solidFill>
                <a:latin typeface="Noto Sans KR"/>
              </a:defRPr>
            </a:pPr>
            <a:r>
              <a:t>검색 엔진이 '답변'을 생성할 때 우리 병원을 가장 먼저 인용하도록 만드는 기술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99" y="2095499"/>
            <a:ext cx="4762500" cy="47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56B3"/>
                </a:solidFill>
                <a:latin typeface="Noto Sans KR"/>
              </a:defRPr>
            </a:pPr>
            <a:r>
              <a:t>기존 SEO vs 새로운 AEO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99" y="2667000"/>
            <a:ext cx="4762500" cy="952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Noto Sans KR"/>
              </a:defRPr>
            </a:pPr>
            <a:r>
              <a:t>SEO가 링크 경쟁이라면, AEO는 답변 점유 경쟁입니다.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476249"/>
            <a:ext cx="3809999" cy="3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56B3"/>
                </a:solidFill>
                <a:latin typeface="Noto Sans KR"/>
              </a:defRPr>
            </a:pPr>
            <a:r>
              <a:t>AI SEARCH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499" y="857250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11111"/>
                </a:solidFill>
                <a:latin typeface="Noto Sans KR"/>
              </a:defRPr>
            </a:pPr>
            <a:r>
              <a:t>AI 검색 결과 모니터링: 아현역 근처 비뇨기과 추천해줘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2499" y="1904999"/>
            <a:ext cx="6667499" cy="428625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904999"/>
            <a:ext cx="3238500" cy="1904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56B3"/>
                </a:solidFill>
                <a:latin typeface="Noto Sans KR"/>
              </a:defRPr>
            </a:pPr>
            <a:r>
              <a:t>분석 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476499"/>
            <a:ext cx="3238500" cy="1904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Noto Sans KR"/>
              </a:defRPr>
            </a:pPr>
            <a:r>
              <a:t>지역 기반 추천 질문에서는 병원의 대표 진료와 강점이 구조화되어 있지 않아 AI가 우선 후보로 인식하지 못함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857250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11111"/>
                </a:solidFill>
                <a:latin typeface="Noto Sans KR"/>
              </a:defRPr>
            </a:pPr>
            <a:r>
              <a:t>AI 검색 결과 모니터링: 갑자기 옆구리가 너무 아픈데 요로결석인가요?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499" y="1904999"/>
            <a:ext cx="6667499" cy="428625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2476499"/>
            <a:ext cx="3238500" cy="1904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Noto Sans KR"/>
              </a:defRPr>
            </a:pPr>
            <a:r>
              <a:t>통증 관련 키워드는 일부 매칭되지만, 응급 쇄석 가능 여부 등 핵심 답변 구조가 부족함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857250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11111"/>
                </a:solidFill>
                <a:latin typeface="Noto Sans KR"/>
              </a:defRPr>
            </a:pPr>
            <a:r>
              <a:t>AI 검색 결과 모니터링: 아현역에서 전립선 비대증 잘 보는 비뇨기과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499" y="1904999"/>
            <a:ext cx="6667499" cy="428625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2476499"/>
            <a:ext cx="3238500" cy="1904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Noto Sans KR"/>
              </a:defRPr>
            </a:pPr>
            <a:r>
              <a:t>특화 진료 키워드가 홈페이지 내에 산재되어 있어, AI가 명확한 전문성 답변으로 구성하기 어려움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476249"/>
            <a:ext cx="3809999" cy="3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56B3"/>
                </a:solidFill>
                <a:latin typeface="Noto Sans KR"/>
              </a:defRPr>
            </a:pPr>
            <a:r>
              <a:t>AI LOGIC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499" y="857250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11111"/>
                </a:solidFill>
                <a:latin typeface="Noto Sans KR"/>
              </a:defRPr>
            </a:pPr>
            <a:r>
              <a:t>AI의 병원 선택 및 추천 로직 분석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2499" y="2095499"/>
            <a:ext cx="3238500" cy="1904999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8249" y="2381250"/>
            <a:ext cx="2667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56B3"/>
                </a:solidFill>
                <a:latin typeface="Noto Sans KR"/>
              </a:defRPr>
            </a:pPr>
            <a:r>
              <a:t>1. 데이터 수집</a:t>
            </a:r>
          </a:p>
          <a:p>
            <a:pPr>
              <a:defRPr sz="1600">
                <a:solidFill>
                  <a:srgbClr val="555555"/>
                </a:solidFill>
                <a:latin typeface="Noto Sans KR"/>
              </a:defRPr>
            </a:pPr>
            <a:r>
              <a:t>웹상에 흩어진 홈페이지 내용, 블로그 데이터를 Crawling함.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857250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11111"/>
                </a:solidFill>
                <a:latin typeface="Noto Sans KR"/>
              </a:defRPr>
            </a:pPr>
            <a:r>
              <a:t>지역 내 경쟁 병원 AI 노출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499" y="1904999"/>
            <a:ext cx="10287000" cy="3809999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95499"/>
            <a:ext cx="2857500" cy="47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11111"/>
                </a:solidFill>
                <a:latin typeface="Noto Sans KR"/>
              </a:defRPr>
            </a:pPr>
            <a:r>
              <a:t>병원명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857250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11111"/>
                </a:solidFill>
                <a:latin typeface="Noto Sans KR"/>
              </a:defRPr>
            </a:pPr>
            <a:r>
              <a:t>홈페이지 AEO 기술 진단 결과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499" y="1904999"/>
            <a:ext cx="3809999" cy="1904999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49" y="2190749"/>
            <a:ext cx="3238500" cy="952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0056B3"/>
                </a:solidFill>
                <a:latin typeface="Noto Sans KR"/>
              </a:defRPr>
            </a:pPr>
            <a:r>
              <a:t>{{Missing: homepage_diagnosis.score}}점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857250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11111"/>
                </a:solidFill>
                <a:latin typeface="Noto Sans KR"/>
              </a:defRPr>
            </a:pPr>
            <a:r>
              <a:t>직진비뇨기과이 직면한 3가지 핵심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499" y="2095499"/>
            <a:ext cx="32385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857250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11111"/>
                </a:solidFill>
                <a:latin typeface="Noto Sans KR"/>
              </a:defRPr>
            </a:pPr>
            <a:r>
              <a:t>왜 지금 AEO인가? (검색의 진화)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499" y="1904999"/>
            <a:ext cx="4762500" cy="3809999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49" y="2190749"/>
            <a:ext cx="4190999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33333"/>
                </a:solidFill>
                <a:latin typeface="Noto Sans KR"/>
              </a:defRPr>
            </a:pPr>
            <a:r>
              <a:t>전통적인 검색(SEO)은 링크를 클릭하게 만드는 기술이었지만, AI 검색(AEO)은 답변 자체에 우리 정보가 포함되게 만드는 지식 자산화 과정입니다.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857250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11111"/>
                </a:solidFill>
                <a:latin typeface="Noto Sans KR"/>
              </a:defRPr>
            </a:pPr>
            <a:r>
              <a:t>AEO 핵심 원리: 답변의 출처가 되어라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499" y="1904999"/>
            <a:ext cx="10287000" cy="28575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857250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11111"/>
                </a:solidFill>
                <a:latin typeface="Noto Sans KR"/>
              </a:defRPr>
            </a:pPr>
            <a:r>
              <a:t>검색 결과 점유율(SoA) 분석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857250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11111"/>
                </a:solidFill>
                <a:latin typeface="Noto Sans KR"/>
              </a:defRPr>
            </a:pPr>
            <a:r>
              <a:t>데이터 구조화의 중요성 (Schema Markup)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857250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11111"/>
                </a:solidFill>
                <a:latin typeface="Noto Sans KR"/>
              </a:defRPr>
            </a:pPr>
            <a:r>
              <a:t>AEO 가시화 단계별 로드맵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857250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11111"/>
                </a:solidFill>
                <a:latin typeface="Noto Sans KR"/>
              </a:defRPr>
            </a:pPr>
            <a:r>
              <a:t>"우리 병원은 AI에게 어떤 답변을 들려줄 것인가?"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857250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11111"/>
                </a:solidFill>
                <a:latin typeface="Noto Sans KR"/>
              </a:defRPr>
            </a:pPr>
            <a:r>
              <a:t>질문형 콘텐츠(FAQ) 최적화 예시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857250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11111"/>
                </a:solidFill>
                <a:latin typeface="Noto Sans KR"/>
              </a:defRPr>
            </a:pPr>
            <a:r>
              <a:t>구조화 데이터(Schema Markup) 적용 계획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499" y="857250"/>
            <a:ext cx="1028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11111"/>
                </a:solidFill>
                <a:latin typeface="Noto Sans KR"/>
              </a:defRPr>
            </a:pPr>
            <a:r>
              <a:t>프로젝트 추진 일정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3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1143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499" y="2381250"/>
            <a:ext cx="10287000" cy="952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Noto Sans KR"/>
              </a:defRPr>
            </a:pPr>
            <a:r>
              <a:t>경청해주셔서 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