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Google</c:v>
                </c:pt>
                <c:pt idx="1">
                  <c:v>Naver</c:v>
                </c:pt>
                <c:pt idx="2">
                  <c:v>Others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47.17</c:v>
                </c:pt>
                <c:pt idx="1">
                  <c:v>44.15</c:v>
                </c:pt>
                <c:pt idx="2">
                  <c:v>8.68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81999" y="0"/>
            <a:ext cx="3809999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381999" y="0"/>
            <a:ext cx="38100" cy="6858000"/>
          </a:xfrm>
          <a:prstGeom prst="rect">
            <a:avLst/>
          </a:prstGeom>
          <a:solidFill>
            <a:srgbClr val="E1ED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52499" y="1143000"/>
            <a:ext cx="571500" cy="5715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2499" y="1428750"/>
            <a:ext cx="6667499" cy="380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056B3"/>
                </a:solidFill>
              </a:defRPr>
            </a:pPr>
            <a:r>
              <a:t>THE LOCAL STANDARD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499" y="2000250"/>
            <a:ext cx="7143750" cy="3333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150" b="1">
                <a:solidFill>
                  <a:srgbClr val="111111"/>
                </a:solidFill>
              </a:defRPr>
            </a:pPr>
            <a:r>
              <a:t>직진비뇨기과</a:t>
            </a:r>
          </a:p>
          <a:p>
            <a:pPr>
              <a:defRPr sz="3600">
                <a:solidFill>
                  <a:srgbClr val="333333"/>
                </a:solidFill>
              </a:defRPr>
            </a:pPr>
            <a:r>
              <a:t>AI·네이버 통합 마케팅
</a:t>
            </a:r>
            <a:r>
              <a:rPr b="1"/>
              <a:t>진단 및 처방전</a:t>
            </a:r>
            <a:r>
              <a:t> </a:t>
            </a:r>
            <a:r>
              <a:rPr b="0">
                <a:solidFill>
                  <a:srgbClr val="888888"/>
                </a:solidFill>
              </a:rPr>
              <a:t>(수정안)</a:t>
            </a:r>
          </a:p>
        </p:txBody>
      </p:sp>
      <p:sp>
        <p:nvSpPr>
          <p:cNvPr id="8" name="Rectangle 7"/>
          <p:cNvSpPr/>
          <p:nvPr/>
        </p:nvSpPr>
        <p:spPr>
          <a:xfrm>
            <a:off x="952499" y="5524499"/>
            <a:ext cx="666749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2499" y="5810249"/>
            <a:ext cx="2857500" cy="76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888888"/>
                </a:solidFill>
              </a:defRPr>
            </a:pPr>
            <a:r>
              <a:t>Presented by</a:t>
            </a:r>
          </a:p>
          <a:p>
            <a:pPr>
              <a:defRPr sz="1500" b="1">
                <a:solidFill>
                  <a:srgbClr val="111111"/>
                </a:solidFill>
              </a:defRPr>
            </a:pPr>
            <a:r>
              <a:t>아벨 전략팀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09999" y="5810249"/>
            <a:ext cx="2857500" cy="76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888888"/>
                </a:solidFill>
              </a:defRPr>
            </a:pPr>
            <a:r>
              <a:t>Date</a:t>
            </a:r>
          </a:p>
          <a:p>
            <a:pPr>
              <a:defRPr sz="1500" b="1">
                <a:solidFill>
                  <a:srgbClr val="111111"/>
                </a:solidFill>
              </a:defRPr>
            </a:pPr>
            <a:r>
              <a:t>2026. 03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48749" y="2381250"/>
            <a:ext cx="2476499" cy="24764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0056B3"/>
                </a:solidFill>
              </a:defRPr>
            </a:pPr>
            <a:r>
              <a:t>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0" y="5238749"/>
            <a:ext cx="28575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666666"/>
                </a:solidFill>
              </a:defRPr>
            </a:pPr>
            <a:r>
              <a:t>Strategic Analysis</a:t>
            </a:r>
            <a:br/>
            <a:r>
              <a:t>for Medical Marketing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현황: 전립선 및 결석 관련 특정 질문에서만 제한적으로 노출되는 상태</a:t>
            </a:r>
          </a:p>
          <a:p>
            <a:r>
              <a:t>주요 현안:</a:t>
            </a:r>
          </a:p>
          <a:p>
            <a:pPr lvl="1"/>
            <a:r>
              <a:t>• 비뇨기과 핵심 질문에 대한 FAQ 구조화 부재</a:t>
            </a:r>
          </a:p>
          <a:p>
            <a:pPr lvl="1"/>
            <a:r>
              <a:t>• Answer-first 방식의 콘텐츠 재구성 필요</a:t>
            </a:r>
          </a:p>
          <a:p>
            <a:pPr lvl="1"/>
            <a:r>
              <a:t>• 구조화 데이터(MedicalEntity, FAQPage) 적용 누락</a:t>
            </a:r>
          </a:p>
          <a:p>
            <a:r>
              <a:t>실행 전략 요약:</a:t>
            </a:r>
          </a:p>
          <a:p>
            <a:pPr lvl="1"/>
            <a:r>
              <a:t>• 핵심질문 1개를 중심으로 홈페이지 첫인상 개편</a:t>
            </a:r>
          </a:p>
          <a:p>
            <a:pPr lvl="1"/>
            <a:r>
              <a:t>• AI 인용용 FAQ 마이크로 데이터베이스 구축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t>아벨 전략팀 | 전략기획실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현재 AI 인식 상태 분석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테스트 결과 종합:</a:t>
            </a:r>
          </a:p>
          <a:p>
            <a:pPr lvl="1"/>
            <a:r>
              <a:t>- 아현역 근처 비뇨기과 추천해줘: GPT(미노출), Gemini(미노출), Perplexity(부분 노출)</a:t>
            </a:r>
          </a:p>
          <a:p>
            <a:pPr lvl="1"/>
            <a:r>
              <a:t>- 갑자기 옆구리가 너무 아픈데 요로결석인가요?: GPT(부분 노출), Gemini(미노출), Perplexity(노출)</a:t>
            </a:r>
          </a:p>
          <a:p>
            <a:pPr lvl="1"/>
            <a:r>
              <a:t>- 아현역에서 전립선 비대증 잘 보는 비뇨기과: GPT(미노출), Gemini(미노출), Perplexity(부분 노출)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t>아벨 전략팀 | 전략기획실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질문 테스트 1: 넓은 추천형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질문: 아현역 근처 비뇨기과 추천해줘</a:t>
            </a:r>
          </a:p>
          <a:p>
            <a:r>
              <a:t>분석: 지역 기반 추천 질문에서는 병원의 대표 진료와 강점이 구조화되어 있지 않아 AI가 우선 후보로 인식하지 못함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t>아벨 전략팀 | 전략기획실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4</a:t>
            </a:r>
          </a:p>
        </p:txBody>
      </p:sp>
      <p:pic>
        <p:nvPicPr>
          <p:cNvPr id="7" name="Picture 6" descr="04_재미나이아현비뇨기과추천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657600"/>
            <a:ext cx="2743200" cy="27123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질문 테스트 2: 증상형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질문: 갑자기 옆구리가 너무 아픈데 요로결석인가요?</a:t>
            </a:r>
          </a:p>
          <a:p>
            <a:r>
              <a:t>분석: 통증 관련 키워드는 일부 매칭되지만, 응급 쇄석 가능 여부 등 핵심 답변 구조가 부족함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t>아벨 전략팀 | 전략기획실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질문 테스트 3: 특화형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질문: 아현역에서 전립선 비대증 잘 보는 비뇨기과</a:t>
            </a:r>
          </a:p>
          <a:p>
            <a:r>
              <a:t>분석: 특화 진료 키워드가 홈페이지 내에 산재되어 있어, AI가 명확한 전문성 답변으로 구성하기 어려움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t>아벨 전략팀 | 전략기획실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6</a:t>
            </a:r>
          </a:p>
        </p:txBody>
      </p:sp>
      <p:pic>
        <p:nvPicPr>
          <p:cNvPr id="7" name="Picture 6" descr="06_퍼플렉시티요로결석쇄석관련질문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657600"/>
            <a:ext cx="2743200" cy="24429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노출 로직 심층 분석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노출 요인 (Strength):</a:t>
            </a:r>
          </a:p>
          <a:p>
            <a:pPr lvl="1"/>
            <a:r>
              <a:t>• 홈페이지 내 전립선 관련 전문 콘텐츠 보유</a:t>
            </a:r>
          </a:p>
          <a:p>
            <a:pPr lvl="1"/>
            <a:r>
              <a:t>• 아현역 지역 키워드와 진료 과목의 연계성 확인</a:t>
            </a:r>
          </a:p>
          <a:p>
            <a:r>
              <a:t>미노출 요인 (Weakness):</a:t>
            </a:r>
          </a:p>
          <a:p>
            <a:pPr lvl="1"/>
            <a:r>
              <a:t>• 질문-답변형(FAQ) 구조의 부재</a:t>
            </a:r>
          </a:p>
          <a:p>
            <a:pPr lvl="1"/>
            <a:r>
              <a:t>• 비뇨기과 특화 시술에 대한 Answer-first 문장 부족</a:t>
            </a:r>
          </a:p>
          <a:p>
            <a:pPr lvl="1"/>
            <a:r>
              <a:t>• AI가 신뢰할 수 있는 공식 답변 블록 및 스키마 미적용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t>아벨 전략팀 | 전략기획실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경쟁 병원 AEO 현황 비교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[인근 A 비뇨기과] 강점: 오랜 지역 인지도와 블로그 노출 우위</a:t>
            </a:r>
          </a:p>
          <a:p>
            <a:pPr lvl="1"/>
            <a:r>
              <a:t>차이점: AI 검색 대응을 위한 기술적 구조(Schema)는 미비함</a:t>
            </a:r>
          </a:p>
          <a:p>
            <a:r>
              <a:t>[인근 B 비뇨기과] 강점: 남성 수술 테마로 정체성이 뚜렷함</a:t>
            </a:r>
          </a:p>
          <a:p>
            <a:pPr lvl="1"/>
            <a:r>
              <a:t>차이점: 질문형 검색어에 대한 대응 콘텐츠가 부족함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t>아벨 전략팀 | 전략기획실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8</a:t>
            </a:r>
          </a:p>
        </p:txBody>
      </p:sp>
      <p:pic>
        <p:nvPicPr>
          <p:cNvPr id="7" name="Picture 6" descr="08_재미나이마포비뇨기과추천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657600"/>
            <a:ext cx="2743200" cy="280693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홈페이지 AEO 기술 구조 진단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메인: 병원 소개와 진료 시간 위주의 전통적인 구성으로 AI 친화적이지 않음</a:t>
            </a:r>
          </a:p>
          <a:p>
            <a:r>
              <a:t>진료페이지: 전립선, 요로결석 등 핵심 진료 설명은 있으나 질문에 바로 답변하는 구조(Block) 부족</a:t>
            </a:r>
          </a:p>
          <a:p>
            <a:r>
              <a:t>Schema: FAQPage 및 Medical 관련 구조화 데이터 미적용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t>아벨 전략팀 | 전략기획실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AEO 도약을 위한 핵심 과제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Issue 1: 비뇨기과 핵심 질문에 대한 FAQ 구조화 부재</a:t>
            </a:r>
          </a:p>
          <a:p>
            <a:pPr>
              <a:defRPr b="1"/>
            </a:pPr>
            <a:r>
              <a:t>Issue 2: Answer-first 방식의 콘텐츠 재구성 필요</a:t>
            </a:r>
          </a:p>
          <a:p>
            <a:pPr>
              <a:defRPr b="1"/>
            </a:pPr>
            <a:r>
              <a:t>Issue 3: 구조화 데이터(MedicalEntity, FAQPage) 적용 누락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t>아벨 전략팀 | 전략기획실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143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499" y="571500"/>
            <a:ext cx="1028700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056B3"/>
                </a:solidFill>
              </a:defRPr>
            </a:pPr>
            <a:r>
              <a:t>MARKET TREND</a:t>
            </a:r>
          </a:p>
          <a:p>
            <a:pPr>
              <a:defRPr sz="3150" b="1">
                <a:solidFill>
                  <a:srgbClr val="111111"/>
                </a:solidFill>
              </a:defRPr>
            </a:pPr>
            <a:r>
              <a:t>왜 지금 AEO인가</a:t>
            </a:r>
          </a:p>
          <a:p>
            <a:pPr>
              <a:defRPr sz="1500">
                <a:solidFill>
                  <a:srgbClr val="444444"/>
                </a:solidFill>
              </a:defRPr>
            </a:pPr>
            <a:r>
              <a:t>검색은 </a:t>
            </a:r>
            <a:r>
              <a:rPr b="1">
                <a:solidFill>
                  <a:srgbClr val="0056B3"/>
                </a:solidFill>
              </a:rPr>
              <a:t>'찾는 행위'</a:t>
            </a:r>
            <a:r>
              <a:t>에서 </a:t>
            </a:r>
            <a:r>
              <a:rPr b="1">
                <a:solidFill>
                  <a:srgbClr val="0056B3"/>
                </a:solidFill>
              </a:rPr>
              <a:t>'묻는 행위'</a:t>
            </a:r>
            <a:r>
              <a:t>로 바뀌고 있습니다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499" y="1952624"/>
            <a:ext cx="10287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과거에는 키워드를 입력하고 여러 링크를 열어보는 방식이었지만, 지금은 자신의 증상과 상황을 구체적으로 질문합니다. AI는 이 질문을 해석해 요약된 답을 먼저 보여줍니다. 이제 </a:t>
            </a:r>
            <a:r>
              <a:rPr b="1"/>
              <a:t>'노출량'보다 '답변 자산'</a:t>
            </a:r>
            <a:r>
              <a:t>이 중요한 시대입니다.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952499" y="2619374"/>
            <a:ext cx="10287000" cy="19050"/>
          </a:xfrm>
          <a:prstGeom prst="rect">
            <a:avLst/>
          </a:prstGeom>
          <a:solidFill>
            <a:srgbClr val="E1ED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5999" y="2857500"/>
            <a:ext cx="19050" cy="3047999"/>
          </a:xfrm>
          <a:prstGeom prst="rect">
            <a:avLst/>
          </a:prstGeom>
          <a:solidFill>
            <a:srgbClr val="E1ED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5875" y="2857500"/>
            <a:ext cx="4429125" cy="380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666666"/>
                </a:solidFill>
              </a:defRPr>
            </a:pPr>
            <a:r>
              <a:t>과거 검색 방식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499" y="2857500"/>
            <a:ext cx="285750" cy="380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50">
                <a:solidFill>
                  <a:srgbClr val="999999"/>
                </a:solidFill>
              </a:defRPr>
            </a:pPr>
            <a:r>
              <a:t>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2499" y="3333749"/>
            <a:ext cx="4572000" cy="66675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90625" y="3524250"/>
            <a:ext cx="28575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66666"/>
                </a:solidFill>
              </a:defRPr>
            </a:pPr>
            <a:r>
              <a:t>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9250" y="3543300"/>
            <a:ext cx="37147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444444"/>
                </a:solidFill>
              </a:defRPr>
            </a:pPr>
            <a:r>
              <a:t>키워드 입력 (단어 위주)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7999" y="4048124"/>
            <a:ext cx="380999" cy="1904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50">
                <a:solidFill>
                  <a:srgbClr val="CCCCCC"/>
                </a:solidFill>
              </a:defRPr>
            </a:pPr>
            <a: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2499" y="4286250"/>
            <a:ext cx="4572000" cy="66675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90625" y="4476750"/>
            <a:ext cx="28575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66666"/>
                </a:solidFill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19250" y="4495799"/>
            <a:ext cx="37147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444444"/>
                </a:solidFill>
              </a:defRPr>
            </a:pPr>
            <a:r>
              <a:t>링크 탐색 (여러 창 열기)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47999" y="5000625"/>
            <a:ext cx="380999" cy="1904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50">
                <a:solidFill>
                  <a:srgbClr val="CCCCCC"/>
                </a:solidFill>
              </a:defRPr>
            </a:pPr>
            <a: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2499" y="5238749"/>
            <a:ext cx="4572000" cy="66675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90625" y="5429250"/>
            <a:ext cx="28575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66666"/>
                </a:solidFill>
              </a:defRPr>
            </a:pPr>
            <a:r>
              <a:t>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19250" y="5448300"/>
            <a:ext cx="37147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444444"/>
                </a:solidFill>
              </a:defRPr>
            </a:pPr>
            <a:r>
              <a:t>사용자가 직접 정보 비교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0875" y="2857500"/>
            <a:ext cx="4429125" cy="380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0056B3"/>
                </a:solidFill>
              </a:defRPr>
            </a:pPr>
            <a:r>
              <a:t>현재/AI 검색 방식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7499" y="2857500"/>
            <a:ext cx="285750" cy="380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50">
                <a:solidFill>
                  <a:srgbClr val="0056B3"/>
                </a:solidFill>
              </a:defRPr>
            </a:pPr>
            <a:r>
              <a:t>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67499" y="3333749"/>
            <a:ext cx="4572000" cy="666750"/>
          </a:xfrm>
          <a:prstGeom prst="roundRect">
            <a:avLst/>
          </a:prstGeom>
          <a:solidFill>
            <a:srgbClr val="F0F7FF"/>
          </a:solidFill>
          <a:ln>
            <a:solidFill>
              <a:srgbClr val="D6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05625" y="3524250"/>
            <a:ext cx="28575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56B3"/>
                </a:solidFill>
              </a:defRPr>
            </a:pPr>
            <a:r>
              <a:t>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4249" y="3543300"/>
            <a:ext cx="37147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11111"/>
                </a:solidFill>
              </a:defRPr>
            </a:pPr>
            <a:r>
              <a:t>질문 입력 (구체적 상황/증상)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62999" y="4048124"/>
            <a:ext cx="380999" cy="1904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50">
                <a:solidFill>
                  <a:srgbClr val="0056B3"/>
                </a:solidFill>
              </a:defRPr>
            </a:pPr>
            <a:r>
              <a:t>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67499" y="4286250"/>
            <a:ext cx="4572000" cy="666750"/>
          </a:xfrm>
          <a:prstGeom prst="roundRect">
            <a:avLst/>
          </a:prstGeom>
          <a:solidFill>
            <a:srgbClr val="F0F7FF"/>
          </a:solidFill>
          <a:ln>
            <a:solidFill>
              <a:srgbClr val="D6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05625" y="4476750"/>
            <a:ext cx="28575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56B3"/>
                </a:solidFill>
              </a:defRPr>
            </a:pPr>
            <a:r>
              <a:t>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4249" y="4495799"/>
            <a:ext cx="37147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11111"/>
                </a:solidFill>
              </a:defRPr>
            </a:pPr>
            <a:r>
              <a:t>AI / 검색엔진이 질문 해석 &amp; 요약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62999" y="5000625"/>
            <a:ext cx="380999" cy="1904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50">
                <a:solidFill>
                  <a:srgbClr val="0056B3"/>
                </a:solidFill>
              </a:defRPr>
            </a:pPr>
            <a:r>
              <a:t>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67499" y="5238749"/>
            <a:ext cx="4572000" cy="666750"/>
          </a:xfrm>
          <a:prstGeom prst="roundRect">
            <a:avLst/>
          </a:prstGeom>
          <a:solidFill>
            <a:srgbClr val="F0F7FF"/>
          </a:solidFill>
          <a:ln>
            <a:solidFill>
              <a:srgbClr val="D6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05625" y="5429250"/>
            <a:ext cx="28575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56B3"/>
                </a:solidFill>
              </a:defRPr>
            </a:pPr>
            <a:r>
              <a:t>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34249" y="5448300"/>
            <a:ext cx="37147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11111"/>
                </a:solidFill>
              </a:defRPr>
            </a:pPr>
            <a:r>
              <a:t>추천 후보와 답변 먼저 제시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2499" y="6095999"/>
            <a:ext cx="10287000" cy="666750"/>
          </a:xfrm>
          <a:prstGeom prst="round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2499" y="6095999"/>
            <a:ext cx="1028700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앞으로의 검색 경쟁은 '노출 경쟁'이 아니라 </a:t>
            </a:r>
            <a:r>
              <a:rPr b="1">
                <a:solidFill>
                  <a:srgbClr val="FFD700"/>
                </a:solidFill>
              </a:rPr>
              <a:t>답변 자산 경쟁</a:t>
            </a:r>
            <a:r>
              <a:t>입니다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53750" y="6477000"/>
            <a:ext cx="952499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>
                <a:solidFill>
                  <a:srgbClr val="999999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143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499" y="761999"/>
            <a:ext cx="10287000" cy="952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056B3"/>
                </a:solidFill>
              </a:defRPr>
            </a:pPr>
            <a:r>
              <a:t>MARKET INSIGHT</a:t>
            </a:r>
          </a:p>
          <a:p>
            <a:pPr>
              <a:defRPr sz="3150" b="1">
                <a:solidFill>
                  <a:srgbClr val="111111"/>
                </a:solidFill>
              </a:defRPr>
            </a:pPr>
            <a:r>
              <a:t>한국 검색시장 변화</a:t>
            </a:r>
          </a:p>
          <a:p>
            <a:pPr>
              <a:defRPr sz="1500">
                <a:solidFill>
                  <a:srgbClr val="555555"/>
                </a:solidFill>
              </a:defRPr>
            </a:pPr>
            <a:r>
              <a:t>한국 검색 환경도 더 이상 네이버 단일 중심으로 보기 어렵습니다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952499" y="1904999"/>
            <a:ext cx="10287000" cy="190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2499" y="2286000"/>
            <a:ext cx="285750" cy="380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56B3"/>
                </a:solidFill>
              </a:defRPr>
            </a:pPr>
            <a:r>
              <a:t>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2286000"/>
            <a:ext cx="4381499" cy="380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111"/>
                </a:solidFill>
              </a:defRPr>
            </a:pPr>
            <a:r>
              <a:t>검색엔진 점유율 (2026.02)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61999" y="2667000"/>
          <a:ext cx="5143500" cy="361949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286500" y="2286000"/>
            <a:ext cx="9525" cy="3809999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0" y="2286000"/>
            <a:ext cx="4381499" cy="1047749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0" y="2286000"/>
            <a:ext cx="57150" cy="1047749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43750" y="2619374"/>
            <a:ext cx="380999" cy="380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11111"/>
                </a:solidFill>
              </a:defRPr>
            </a:pPr>
            <a:r>
              <a:t>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5250" y="2476499"/>
            <a:ext cx="3333749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11111"/>
                </a:solidFill>
              </a:defRPr>
            </a:pPr>
            <a:r>
              <a:t>중심축 변화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"네이버만 잡으면 된다"는 공식은 끝났습니다. 검색 유입의 중심축이 이동하고 있습니다.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3524250"/>
            <a:ext cx="4381499" cy="1047749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0" y="3524250"/>
            <a:ext cx="57150" cy="1047749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43750" y="3857625"/>
            <a:ext cx="380999" cy="380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56B3"/>
                </a:solidFill>
              </a:defRPr>
            </a:pPr>
            <a:r>
              <a:t>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5250" y="3714750"/>
            <a:ext cx="3333749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056B3"/>
                </a:solidFill>
              </a:defRPr>
            </a:pPr>
            <a:r>
              <a:t>구글 대응 가치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구글 대응은 이제 선택이 아닌 </a:t>
            </a:r>
            <a:r>
              <a:rPr b="1"/>
              <a:t>필수 전략</a:t>
            </a:r>
            <a:r>
              <a:t>입니다. 병원 탐색 및 비교 과정에서 비중이 급증했습니다.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4762500"/>
            <a:ext cx="4381499" cy="1047749"/>
          </a:xfrm>
          <a:prstGeom prst="roundRect">
            <a:avLst/>
          </a:prstGeom>
          <a:solidFill>
            <a:srgbClr val="FFFFFF"/>
          </a:solidFill>
          <a:ln>
            <a:solidFill>
              <a:srgbClr val="005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43750" y="5095874"/>
            <a:ext cx="380999" cy="380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56B3"/>
                </a:solidFill>
              </a:defRPr>
            </a:pPr>
            <a:r>
              <a:t>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15250" y="4952999"/>
            <a:ext cx="3333749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056B3"/>
                </a:solidFill>
              </a:defRPr>
            </a:pPr>
            <a:r>
              <a:t>AI 검색 대응의 시작점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AI 검색 최적화는 </a:t>
            </a:r>
            <a:r>
              <a:rPr b="1"/>
              <a:t>구글 SEO</a:t>
            </a:r>
            <a:r>
              <a:t>와 맞닿아 있습니다. 홈페이지의 구조화가 그 어느 때보다 중요합니다.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499" y="6286500"/>
            <a:ext cx="5715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* 집계 시점: 2026년 2월 기준 (통합 검색 쿼리 점유율 추정치)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53750" y="6381749"/>
            <a:ext cx="952499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>
                <a:solidFill>
                  <a:srgbClr val="111111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143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499" y="761999"/>
            <a:ext cx="10287000" cy="952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056B3"/>
                </a:solidFill>
              </a:defRPr>
            </a:pPr>
            <a:r>
              <a:t>AI SEARCH MECHANISM</a:t>
            </a:r>
          </a:p>
          <a:p>
            <a:pPr>
              <a:defRPr sz="3150" b="1">
                <a:solidFill>
                  <a:srgbClr val="111111"/>
                </a:solidFill>
              </a:defRPr>
            </a:pPr>
            <a:r>
              <a:t>AI 검색은 기존 검색과 어떻게 다른가</a:t>
            </a:r>
          </a:p>
          <a:p>
            <a:pPr>
              <a:defRPr sz="1500">
                <a:solidFill>
                  <a:srgbClr val="555555"/>
                </a:solidFill>
              </a:defRPr>
            </a:pPr>
            <a:r>
              <a:t>AI는 링크를 나열하지 않습니다. 질문을 분해하고, 답을 조합합니다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952499" y="1904999"/>
            <a:ext cx="10287000" cy="190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2238375"/>
            <a:ext cx="476249" cy="4762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333333"/>
                </a:solidFill>
              </a:defRPr>
            </a:pPr>
            <a:r>
              <a:t>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52750" y="2190749"/>
            <a:ext cx="7238999" cy="571500"/>
          </a:xfrm>
          <a:prstGeom prst="roundRect">
            <a:avLst/>
          </a:prstGeom>
          <a:solidFill>
            <a:srgbClr val="F0F4F8"/>
          </a:solidFill>
          <a:ln>
            <a:solidFill>
              <a:srgbClr val="005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09875" y="2333624"/>
            <a:ext cx="190499" cy="190499"/>
          </a:xfrm>
          <a:prstGeom prst="rect">
            <a:avLst/>
          </a:prstGeom>
          <a:solidFill>
            <a:srgbClr val="F0F4F8"/>
          </a:solidFill>
          <a:ln>
            <a:solidFill>
              <a:srgbClr val="005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8500" y="2333624"/>
            <a:ext cx="6762750" cy="380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11111"/>
                </a:solidFill>
              </a:defRPr>
            </a:pPr>
            <a:r>
              <a:t>"성남에서 허리디스크를 비수술로 진료받을 수 있는 병원은 어디인가요?"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5999" y="2762249"/>
            <a:ext cx="19050" cy="23812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04999" y="3000375"/>
            <a:ext cx="8381999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04999" y="3000375"/>
            <a:ext cx="19050" cy="19049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00500" y="3000375"/>
            <a:ext cx="19050" cy="19049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5999" y="3000375"/>
            <a:ext cx="19050" cy="19049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91499" y="3000375"/>
            <a:ext cx="19050" cy="19049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287000" y="3000375"/>
            <a:ext cx="19050" cy="19049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47749" y="3190874"/>
            <a:ext cx="1714500" cy="761999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7749" y="3286125"/>
            <a:ext cx="17145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888888"/>
                </a:solidFill>
              </a:defRPr>
            </a:pPr>
            <a:r>
              <a:t>지역</a:t>
            </a:r>
          </a:p>
          <a:p>
            <a:pPr algn="ctr">
              <a:defRPr sz="1350" b="1">
                <a:solidFill>
                  <a:srgbClr val="0056B3"/>
                </a:solidFill>
              </a:defRPr>
            </a:pPr>
            <a:r>
              <a:t>성남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43250" y="3190874"/>
            <a:ext cx="1714500" cy="761999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43250" y="3286125"/>
            <a:ext cx="17145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888888"/>
                </a:solidFill>
              </a:defRPr>
            </a:pPr>
            <a:r>
              <a:t>증상</a:t>
            </a:r>
          </a:p>
          <a:p>
            <a:pPr algn="ctr">
              <a:defRPr sz="1350" b="1">
                <a:solidFill>
                  <a:srgbClr val="0056B3"/>
                </a:solidFill>
              </a:defRPr>
            </a:pPr>
            <a:r>
              <a:t>허리디스크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38749" y="3190874"/>
            <a:ext cx="1714500" cy="761999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38749" y="3286125"/>
            <a:ext cx="17145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888888"/>
                </a:solidFill>
              </a:defRPr>
            </a:pPr>
            <a:r>
              <a:t>치료 방식</a:t>
            </a:r>
          </a:p>
          <a:p>
            <a:pPr algn="ctr">
              <a:defRPr sz="1350" b="1">
                <a:solidFill>
                  <a:srgbClr val="0056B3"/>
                </a:solidFill>
              </a:defRPr>
            </a:pPr>
            <a:r>
              <a:t>비수술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34249" y="3190874"/>
            <a:ext cx="1714500" cy="761999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34249" y="3286125"/>
            <a:ext cx="17145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888888"/>
                </a:solidFill>
              </a:defRPr>
            </a:pPr>
            <a:r>
              <a:t>전문 진료 영역</a:t>
            </a:r>
          </a:p>
          <a:p>
            <a:pPr algn="ctr">
              <a:defRPr sz="1350" b="1">
                <a:solidFill>
                  <a:srgbClr val="0056B3"/>
                </a:solidFill>
              </a:defRPr>
            </a:pPr>
            <a:r>
              <a:t>진료 가능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29750" y="3190874"/>
            <a:ext cx="1714500" cy="761999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29750" y="3286125"/>
            <a:ext cx="17145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888888"/>
                </a:solidFill>
              </a:defRPr>
            </a:pPr>
            <a:r>
              <a:t>병원 신뢰 근거</a:t>
            </a:r>
          </a:p>
          <a:p>
            <a:pPr algn="ctr">
              <a:defRPr sz="1350" b="1">
                <a:solidFill>
                  <a:srgbClr val="0056B3"/>
                </a:solidFill>
              </a:defRPr>
            </a:pPr>
            <a:r>
              <a:t>권위/평판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05500" y="4095749"/>
            <a:ext cx="380999" cy="380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50">
                <a:solidFill>
                  <a:srgbClr val="DDDDDD"/>
                </a:solidFill>
              </a:defRPr>
            </a:pPr>
            <a:r>
              <a:t>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2499" y="4476750"/>
            <a:ext cx="3238500" cy="1047749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2499" y="4476750"/>
            <a:ext cx="47624" cy="1047749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4714875"/>
            <a:ext cx="476249" cy="4762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>
                <a:solidFill>
                  <a:srgbClr val="333333"/>
                </a:solidFill>
              </a:defRPr>
            </a:pPr>
            <a:r>
              <a:t>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14500" y="4619625"/>
            <a:ext cx="228600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11111"/>
                </a:solidFill>
              </a:defRPr>
            </a:pPr>
            <a:r>
              <a:t>질문형 FAQ</a:t>
            </a:r>
          </a:p>
          <a:p>
            <a:pPr>
              <a:defRPr sz="1050">
                <a:solidFill>
                  <a:srgbClr val="555555"/>
                </a:solidFill>
              </a:defRPr>
            </a:pPr>
            <a:r>
              <a:t>사용자가 묻는 문장 그대로 제목을 구성한 콘텐츠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76750" y="4476750"/>
            <a:ext cx="3238500" cy="1047749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76750" y="4476750"/>
            <a:ext cx="47624" cy="1047749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67249" y="4714875"/>
            <a:ext cx="476249" cy="4762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>
                <a:solidFill>
                  <a:srgbClr val="0056B3"/>
                </a:solidFill>
              </a:defRPr>
            </a:pPr>
            <a:r>
              <a:t>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38749" y="4619625"/>
            <a:ext cx="228600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056B3"/>
                </a:solidFill>
              </a:defRPr>
            </a:pPr>
            <a:r>
              <a:t>Answer-first 답변</a:t>
            </a:r>
          </a:p>
          <a:p>
            <a:pPr>
              <a:defRPr sz="1050">
                <a:solidFill>
                  <a:srgbClr val="555555"/>
                </a:solidFill>
              </a:defRPr>
            </a:pPr>
            <a:r>
              <a:t>서론 없이 핵심 결론부터 제시하는 두괄식 구조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01000" y="4476750"/>
            <a:ext cx="3238500" cy="1047749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01000" y="4476750"/>
            <a:ext cx="47624" cy="1047749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91499" y="4714875"/>
            <a:ext cx="476249" cy="4762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>
                <a:solidFill>
                  <a:srgbClr val="333333"/>
                </a:solidFill>
              </a:defRPr>
            </a:pPr>
            <a:r>
              <a:t>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62999" y="4619625"/>
            <a:ext cx="228600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11111"/>
                </a:solidFill>
              </a:defRPr>
            </a:pPr>
            <a:r>
              <a:t>구조화 데이터</a:t>
            </a:r>
          </a:p>
          <a:p>
            <a:pPr>
              <a:defRPr sz="1050">
                <a:solidFill>
                  <a:srgbClr val="555555"/>
                </a:solidFill>
              </a:defRPr>
            </a:pPr>
            <a:r>
              <a:t>검색엔진이 정보를 쉽게 이해하도록 돕는 태그(Schema)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2499" y="5762625"/>
            <a:ext cx="10287000" cy="571500"/>
          </a:xfrm>
          <a:prstGeom prst="round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2499" y="5905500"/>
            <a:ext cx="10287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AI는 병원 홈페이지를 ‘소개글’이 아니라 </a:t>
            </a:r>
            <a:r>
              <a:rPr b="1"/>
              <a:t>‘답변 데이터베이스’</a:t>
            </a:r>
            <a:r>
              <a:t>처럼 읽습니다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90749" y="5905500"/>
            <a:ext cx="28575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"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15500" y="5905500"/>
            <a:ext cx="28575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"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53750" y="6381749"/>
            <a:ext cx="952499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>
                <a:solidFill>
                  <a:srgbClr val="111111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143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499" y="761999"/>
            <a:ext cx="1028700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056B3"/>
                </a:solidFill>
              </a:defRPr>
            </a:pPr>
            <a:r>
              <a:t>CLICKS VS CITATIONS</a:t>
            </a:r>
          </a:p>
          <a:p>
            <a:pPr>
              <a:defRPr sz="3150" b="1">
                <a:solidFill>
                  <a:srgbClr val="111111"/>
                </a:solidFill>
              </a:defRPr>
            </a:pPr>
            <a:r>
              <a:t>클릭 감소와 직접 인용 구조의 중요성</a:t>
            </a:r>
          </a:p>
          <a:p>
            <a:pPr>
              <a:defRPr sz="1500">
                <a:solidFill>
                  <a:srgbClr val="555555"/>
                </a:solidFill>
              </a:defRPr>
            </a:pPr>
            <a:r>
              <a:t>이제는 클릭되기 전에, 먼저 답변에 포함되어야 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952499" y="1904999"/>
            <a:ext cx="10287000" cy="190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2499" y="2190749"/>
            <a:ext cx="4762500" cy="380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555555"/>
                </a:solidFill>
              </a:defRPr>
            </a:pPr>
            <a:r>
              <a:t>기존 검색 구조 (Traffic)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8249" y="2667000"/>
            <a:ext cx="4190999" cy="666750"/>
          </a:xfrm>
          <a:prstGeom prst="round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23999" y="2809875"/>
            <a:ext cx="380999" cy="380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50">
                <a:solidFill>
                  <a:srgbClr val="888888"/>
                </a:solidFill>
              </a:defRPr>
            </a:pPr>
            <a:r>
              <a:t>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0250" y="2762249"/>
            <a:ext cx="3143250" cy="47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555555"/>
                </a:solidFill>
              </a:defRPr>
            </a:pPr>
            <a:r>
              <a:t>검색결과 노출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90874" y="3381375"/>
            <a:ext cx="28575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CCCCC"/>
                </a:solidFill>
              </a:defRPr>
            </a:pPr>
            <a: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23999" y="3714750"/>
            <a:ext cx="3619499" cy="666750"/>
          </a:xfrm>
          <a:prstGeom prst="round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09749" y="3857625"/>
            <a:ext cx="380999" cy="380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50">
                <a:solidFill>
                  <a:srgbClr val="888888"/>
                </a:solidFill>
              </a:defRPr>
            </a:pPr>
            <a:r>
              <a:t>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809999"/>
            <a:ext cx="2667000" cy="47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555555"/>
                </a:solidFill>
              </a:defRPr>
            </a:pPr>
            <a:r>
              <a:t>클릭 유도 (CTR)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90874" y="4429125"/>
            <a:ext cx="28575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CCCCC"/>
                </a:solidFill>
              </a:defRPr>
            </a:pPr>
            <a: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09749" y="4762500"/>
            <a:ext cx="3047999" cy="666750"/>
          </a:xfrm>
          <a:prstGeom prst="round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95499" y="4905375"/>
            <a:ext cx="380999" cy="380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50">
                <a:solidFill>
                  <a:srgbClr val="888888"/>
                </a:solidFill>
              </a:defRPr>
            </a:pPr>
            <a:r>
              <a:t>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71750" y="4857750"/>
            <a:ext cx="2095499" cy="47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555555"/>
                </a:solidFill>
              </a:defRPr>
            </a:pPr>
            <a:r>
              <a:t>홈페이지 방문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5999" y="2286000"/>
            <a:ext cx="19050" cy="31432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7000" y="2190749"/>
            <a:ext cx="4762500" cy="380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56B3"/>
                </a:solidFill>
              </a:defRPr>
            </a:pPr>
            <a:r>
              <a:t>AI 검색 구조 (Citation)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2750" y="2667000"/>
            <a:ext cx="4190999" cy="666750"/>
          </a:xfrm>
          <a:prstGeom prst="roundRect">
            <a:avLst/>
          </a:prstGeom>
          <a:solidFill>
            <a:srgbClr val="E6F0FA"/>
          </a:solidFill>
          <a:ln>
            <a:solidFill>
              <a:srgbClr val="005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8500" y="2809875"/>
            <a:ext cx="380999" cy="380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50">
                <a:solidFill>
                  <a:srgbClr val="0056B3"/>
                </a:solidFill>
              </a:defRPr>
            </a:pPr>
            <a:r>
              <a:t>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24749" y="2762249"/>
            <a:ext cx="3143250" cy="47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056B3"/>
                </a:solidFill>
              </a:defRPr>
            </a:pPr>
            <a:r>
              <a:t>질문 입력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15375" y="3381375"/>
            <a:ext cx="28575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56B3"/>
                </a:solidFill>
              </a:defRPr>
            </a:pPr>
            <a:r>
              <a:t>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48500" y="3714750"/>
            <a:ext cx="3619499" cy="666750"/>
          </a:xfrm>
          <a:prstGeom prst="roundRect">
            <a:avLst/>
          </a:prstGeom>
          <a:solidFill>
            <a:srgbClr val="0056B3"/>
          </a:solidFill>
          <a:ln>
            <a:solidFill>
              <a:srgbClr val="005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34249" y="3857625"/>
            <a:ext cx="380999" cy="380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50">
                <a:solidFill>
                  <a:srgbClr val="FFFFFF"/>
                </a:solidFill>
              </a:defRPr>
            </a:pPr>
            <a:r>
              <a:t>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0499" y="3809999"/>
            <a:ext cx="2667000" cy="47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t>AI 요약 및 추천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15375" y="4429125"/>
            <a:ext cx="28575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56B3"/>
                </a:solidFill>
              </a:defRPr>
            </a:pPr>
            <a:r>
              <a:t>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34249" y="4762500"/>
            <a:ext cx="3047999" cy="666750"/>
          </a:xfrm>
          <a:prstGeom prst="roundRect">
            <a:avLst/>
          </a:prstGeom>
          <a:solidFill>
            <a:srgbClr val="E6F0FA"/>
          </a:solidFill>
          <a:ln>
            <a:solidFill>
              <a:srgbClr val="005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19999" y="4905375"/>
            <a:ext cx="380999" cy="380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50">
                <a:solidFill>
                  <a:srgbClr val="0056B3"/>
                </a:solidFill>
              </a:defRPr>
            </a:pPr>
            <a:r>
              <a:t>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6249" y="4857750"/>
            <a:ext cx="2095499" cy="47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56B3"/>
                </a:solidFill>
              </a:defRPr>
            </a:pPr>
            <a:r>
              <a:t>일부 후보만 인식</a:t>
            </a:r>
          </a:p>
          <a:p>
            <a:pPr>
              <a:defRPr sz="1050">
                <a:solidFill>
                  <a:srgbClr val="555555"/>
                </a:solidFill>
              </a:defRPr>
            </a:pPr>
            <a:r>
              <a:t>→ 선택 검토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2499" y="5715000"/>
            <a:ext cx="10287000" cy="761999"/>
          </a:xfrm>
          <a:prstGeom prst="round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2499" y="5715000"/>
            <a:ext cx="10287000" cy="76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50">
                <a:solidFill>
                  <a:srgbClr val="FFFFFF"/>
                </a:solidFill>
              </a:defRPr>
            </a:pPr>
            <a:r>
              <a:t>앞으로는 ‘클릭을 기다리는 홈페이지’가 아니라
</a:t>
            </a:r>
            <a:r>
              <a:rPr b="1">
                <a:solidFill>
                  <a:srgbClr val="4DA3FF"/>
                </a:solidFill>
              </a:rPr>
              <a:t>먼저 인용되는 홈페이지</a:t>
            </a:r>
            <a:r>
              <a:t>가 유리합니다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53750" y="6572250"/>
            <a:ext cx="952499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>
                <a:solidFill>
                  <a:srgbClr val="111111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2: AEO 해결 전략 (Proposal)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전략 핵심 방향:</a:t>
            </a:r>
          </a:p>
          <a:p>
            <a:pPr lvl="1"/>
            <a:r>
              <a:t>• 핵심질문 1개를 중심으로 홈페이지 첫인상 개편</a:t>
            </a:r>
          </a:p>
          <a:p>
            <a:pPr lvl="1"/>
            <a:r>
              <a:t>• AI 인용용 FAQ 마이크로 데이터베이스 구축</a:t>
            </a:r>
          </a:p>
          <a:p>
            <a:pPr lvl="1"/>
            <a:r>
              <a:t>• 전문 지식 블록(Answer-first) 중심의 진료 페이지 고도화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t>아벨 전략팀 | 전략기획실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Core Question: 브랜드 검색 축 설정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 b="1"/>
            </a:pPr>
            <a:r>
              <a:t>Q. "아현역 근처에서 전립선 검사와 요로결석 치료를 믿고 맡길 수 있는 비뇨기과는 어디인가요?"</a:t>
            </a:r>
          </a:p>
          <a:p/>
          <a:p>
            <a:r>
              <a:t>설정 근거:</a:t>
            </a:r>
          </a:p>
          <a:p>
            <a:pPr lvl="1"/>
            <a:r>
              <a:t>• 지역명과 가장 수요가 높은 핵심 진료를 통합</a:t>
            </a:r>
          </a:p>
          <a:p>
            <a:pPr lvl="1"/>
            <a:r>
              <a:t>• 환자의 '신뢰'와 '전문성' 검색 의도를 동시에 충족</a:t>
            </a:r>
          </a:p>
          <a:p>
            <a:pPr lvl="1"/>
            <a:r>
              <a:t>• 모든 세부 질문의 최상위 허브 역할 수행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t>아벨 전략팀 | 전략기획실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AEO 인용을 위한 FAQ 구조화 예시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카테고리별 대표 질문 설계:</a:t>
            </a:r>
          </a:p>
          <a:p>
            <a:pPr>
              <a:defRPr b="1"/>
            </a:pPr>
            <a:r>
              <a:t>[긴급형]</a:t>
            </a:r>
          </a:p>
          <a:p>
            <a:pPr lvl="1"/>
            <a:r>
              <a:t> - 아현역 근처 요로결석 응급 쇄석 가능한가요?</a:t>
            </a:r>
          </a:p>
          <a:p>
            <a:pPr>
              <a:defRPr b="1"/>
            </a:pPr>
            <a:r>
              <a:t>[전립선]</a:t>
            </a:r>
          </a:p>
          <a:p>
            <a:pPr lvl="1"/>
            <a:r>
              <a:t> - 전립선 비대증 수술 없이 치료 가능한가요?</a:t>
            </a:r>
          </a:p>
          <a:p>
            <a:pPr>
              <a:defRPr b="1"/>
            </a:pPr>
            <a:r>
              <a:t>[남성수술]</a:t>
            </a:r>
          </a:p>
          <a:p>
            <a:pPr lvl="1"/>
            <a:r>
              <a:t> - 정관수술 시 통증이나 회복 기간은 얼마나 걸리나요?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t>아벨 전략팀 | 전략기획실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홈페이지 기술 최적화 레이어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Step: Core Question 허브 페이지 신설</a:t>
            </a:r>
          </a:p>
          <a:p>
            <a:r>
              <a:t>Step: AI 친화적 FAQ 레이어 구축</a:t>
            </a:r>
          </a:p>
          <a:p>
            <a:r>
              <a:t>Step: Medical Schema &amp; JSON-LD 기술 적용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t>아벨 전략팀 | 전략기획실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AEO 구축 실행 타임라인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현재 노출 상태 정밀 진단 -&gt; 핵심 타겟 질문 정의 -&gt; FAQ 및 답변 라이브러리 설계 -&gt; 홈페이지 기술 구현 및 반영 -&gt; AI 재테스트 및 성과 측정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t>아벨 전략팀 | 전략기획실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결론: AI 검색 시대에 앞서가는 병원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기대 효과:</a:t>
            </a:r>
          </a:p>
          <a:p>
            <a:pPr lvl="1"/>
            <a:r>
              <a:t>• AI 검색 플랫폼(ChatGPT, Perplexity 등) 내 병원 인용률 증대</a:t>
            </a:r>
          </a:p>
          <a:p>
            <a:pPr lvl="1"/>
            <a:r>
              <a:t>• 요로결석, 전립선 등 핵심 키워드 검색 시 안정적 노출 확보</a:t>
            </a:r>
          </a:p>
          <a:p>
            <a:pPr lvl="1"/>
            <a:r>
              <a:t>• 홈페이지 방문자의 정답 확인 시간 단축으로 인한 예약 전환율 상승</a:t>
            </a:r>
          </a:p>
          <a:p/>
          <a:p>
            <a:pPr algn="ctr">
              <a:defRPr b="1"/>
            </a:pPr>
            <a:r>
              <a:t>직진비뇨기과의 전문성이 AI 시대의 새로운 표준이 되도록 최적의 전략을 제안드립니다.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t>아벨 전략팀 | 전략기획실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